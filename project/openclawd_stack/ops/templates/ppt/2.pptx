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69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92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ISDIN · DIGITAL LIGHTHOUSE &amp; AI TEAM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Collaboration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5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47472" y="2304288"/>
            <a:ext cx="4114800" cy="22860"/>
          </a:xfrm>
          <a:prstGeom prst="rect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423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Advisory · ~6 months · Barcelona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32004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Lobo</a:t>
            </a:r>
            <a:endParaRPr lang="en-US" sz="1500" dirty="0"/>
          </a:p>
          <a:p>
            <a:pPr marL="0" indent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Manager &amp; Advisor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950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hola@movildrive.com  ·  +34 605 693 177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0" y="4480560"/>
            <a:ext cx="1828800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2926080" cy="2926080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85D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463040"/>
            <a:ext cx="1828800" cy="1828800"/>
          </a:xfrm>
          <a:prstGeom prst="ellipse">
            <a:avLst/>
          </a:prstGeom>
          <a:solidFill>
            <a:srgbClr val="222236"/>
          </a:solidFill>
          <a:ln w="6350">
            <a:solidFill>
              <a:srgbClr val="E85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600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×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ISdin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371600" cy="256032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56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ISDIN stands — and the opportunity ahead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63040"/>
            <a:ext cx="2743200" cy="6400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0624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worldwide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revenue now international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14630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463040"/>
            <a:ext cx="2743200" cy="6400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€340M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(2021)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double-digit growth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463040"/>
            <a:ext cx="2743200" cy="6400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45936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globally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45936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continents, accelerating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032" y="309067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ISDIN has built solid foundations: LYS (its internal AI assistant), Contentsquare-powered digital analytics, and a growing AI team. As international expansion accelerates and the company invests 4–5% of revenue in innovation annually, the moment to deepen AI and data capabilities across commercial and operational functions is now.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2999232"/>
            <a:ext cx="3200400" cy="1298448"/>
          </a:xfrm>
          <a:prstGeom prst="rect">
            <a:avLst/>
          </a:prstGeom>
          <a:solidFill>
            <a:srgbClr val="131320"/>
          </a:solidFill>
          <a:ln w="12700">
            <a:solidFill>
              <a:srgbClr val="1313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0448" y="306324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external advisor?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70448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from EU/US programmes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politics, full focus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assumptions constructively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992624"/>
            <a:ext cx="8686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Lobo  ·  hola@movildrive.com  ·  AI Collaboration Proposal for ISDIN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645920" cy="256032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560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concrete areas where I can add value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2743200" cy="1554480"/>
          </a:xfrm>
          <a:prstGeom prst="rect">
            <a:avLst/>
          </a:prstGeom>
          <a:solidFill>
            <a:srgbClr val="1E1E30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53312"/>
            <a:ext cx="64008" cy="155448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490472"/>
            <a:ext cx="347472" cy="2286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904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" y="1472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Commercial Intelligence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90195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demand forecasting, territory optimisation, rep productivity analytics, and pricing intelligence mapped to ISDIN's global commercial structure.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55264" y="1353312"/>
            <a:ext cx="2743200" cy="1554480"/>
          </a:xfrm>
          <a:prstGeom prst="rect">
            <a:avLst/>
          </a:prstGeom>
          <a:solidFill>
            <a:srgbClr val="1E1E30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353312"/>
            <a:ext cx="64008" cy="155448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9856" y="1490472"/>
            <a:ext cx="347472" cy="2286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4904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49624" y="1472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Consumer Behaviour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9856" y="190195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insight from the ISDIN app, LYS interactions, and web data — personalisation loops, funnel analysis, and CX data activation.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54496" y="1353312"/>
            <a:ext cx="2743200" cy="1554480"/>
          </a:xfrm>
          <a:prstGeom prst="rect">
            <a:avLst/>
          </a:prstGeom>
          <a:solidFill>
            <a:srgbClr val="1E1E30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1353312"/>
            <a:ext cx="64008" cy="155448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1490472"/>
            <a:ext cx="347472" cy="2286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14904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48856" y="1472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Dermatology &amp; Product R&amp;D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19088" y="190195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to accelerate formulation insight, clinical data synthesis, or image-based diagnostics in partnership with ISD research outputs.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3127248"/>
            <a:ext cx="2743200" cy="1554480"/>
          </a:xfrm>
          <a:prstGeom prst="rect">
            <a:avLst/>
          </a:prstGeom>
          <a:solidFill>
            <a:srgbClr val="1E1E30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127248"/>
            <a:ext cx="64008" cy="155448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" y="3264408"/>
            <a:ext cx="347472" cy="2286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26440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0392" y="3246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&amp; Executive Dashboards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" y="36758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data products for leadership — market intelligence to cross-regional performance tracking in real time.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55264" y="3127248"/>
            <a:ext cx="2743200" cy="1554480"/>
          </a:xfrm>
          <a:prstGeom prst="rect">
            <a:avLst/>
          </a:prstGeom>
          <a:solidFill>
            <a:srgbClr val="1E1E30"/>
          </a:solidFill>
          <a:ln w="6350">
            <a:solidFill>
              <a:srgbClr val="2E2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55264" y="3127248"/>
            <a:ext cx="64008" cy="155448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9856" y="3264408"/>
            <a:ext cx="347472" cy="2286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9856" y="326440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49624" y="3246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Tooling, Retail &amp; Market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19856" y="36758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AI automation beyond LYS: market data pipelines, competitor tracking, retailer sell-out analytics, and AI-assisted reporting.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54496" y="3127248"/>
            <a:ext cx="2743200" cy="155448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31272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37376" y="37033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advisory
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months focused
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co-defined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0A18"/>
          </a:solidFill>
          <a:ln w="12700">
            <a:solidFill>
              <a:srgbClr val="0A0A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4992624"/>
            <a:ext cx="8686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Lobo  ·  hola@movildrive.com  ·  AI Collaboration Proposal for ISDIN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63040" cy="256032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56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bring to ISDIN's AI team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64008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44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Roadmap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deploying AI programmes in real operational environments across Europe and the US.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2057400"/>
            <a:ext cx="64008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756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data infrastructure to enable analytics, ML, and decision systems at scale.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788920"/>
            <a:ext cx="64008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807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Sales Analytics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intelligence, forecasting, and commercial data products for complex, multi-market organisations.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3520440"/>
            <a:ext cx="64008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38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data into executive-ready dashboards and operational decision tools.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4251960"/>
            <a:ext cx="64008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270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Internal Tooling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AI-assisted workflows that free teams for higher-value creative and strategic work.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1261872"/>
            <a:ext cx="3401568" cy="35661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353312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ISDIN specifically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1856232"/>
            <a:ext cx="164592" cy="164592"/>
          </a:xfrm>
          <a:prstGeom prst="ellipse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81051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 shows real internal appetite for AI — there's a team that gets 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2441448"/>
            <a:ext cx="164592" cy="164592"/>
          </a:xfrm>
          <a:prstGeom prst="ellipse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39572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scale (50+ markets) creates complex, rich data challenges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0" y="3026664"/>
            <a:ext cx="164592" cy="164592"/>
          </a:xfrm>
          <a:prstGeom prst="ellipse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98094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+ consumer + retail: a genuinely multi-dimensional data problem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0" y="3611880"/>
            <a:ext cx="164592" cy="164592"/>
          </a:xfrm>
          <a:prstGeom prst="ellipse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566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ISDIN's innovation culture (4–5% R&amp;D) aligns with ambitious AI deployment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0" y="4197096"/>
            <a:ext cx="164592" cy="164592"/>
          </a:xfrm>
          <a:prstGeom prst="ellipse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15137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Lighthouse team is the right place to amplify impact fast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992624"/>
            <a:ext cx="8686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Lobo  ·  hola@movildrive.com  ·  AI Collaboration Proposal for ISDIN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029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simple next step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56032" y="1234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45-minute discovery call with the Data &amp; AI team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" y="1828800"/>
            <a:ext cx="8631936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call covers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4864" cy="20116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313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ISDIN's current data &amp; AI priorities and pain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54864" cy="20116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6426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external capacity adds the most value right now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54864" cy="20116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co-defined scope for the engagement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319272"/>
            <a:ext cx="54864" cy="20116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0098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next steps — no bureaucracy, no hard sell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" y="3730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Alberto Lobo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" y="40599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Manager &amp; Advisor · Barcelona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" y="4370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hola@movildrive.com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" y="4618585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+34 605 693 177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2743200" cy="118872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3075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flexible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timing.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katie.diez@isdin.com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615</Words>
  <Application>Microsoft Macintosh PowerPoint</Application>
  <PresentationFormat>Presentación en pantalla (16:9)</PresentationFormat>
  <Paragraphs>87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Collaboration Proposal – ISDIN</dc:title>
  <dc:subject>PptxGenJS Presentation</dc:subject>
  <dc:creator>Alberto Lobo</dc:creator>
  <cp:lastModifiedBy>Microsoft Office User</cp:lastModifiedBy>
  <cp:revision>2</cp:revision>
  <dcterms:created xsi:type="dcterms:W3CDTF">2026-03-10T16:48:47Z</dcterms:created>
  <dcterms:modified xsi:type="dcterms:W3CDTF">2026-03-13T10:26:38Z</dcterms:modified>
</cp:coreProperties>
</file>