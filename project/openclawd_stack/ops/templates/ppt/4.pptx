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0"/>
            <a:ext cx="36576" cy="514350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0A896">
              <a:alpha val="12000"/>
            </a:srgbClr>
          </a:solidFill>
          <a:ln w="1905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00A896">
              <a:alpha val="8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NORGINE · AI STRATEGY &amp; INNOVATION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 Pharma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Norgine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685800" y="3246120"/>
            <a:ext cx="2194560" cy="50292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429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casos de uso · ROI inmediato · Ventaja competitiva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886200"/>
            <a:ext cx="182880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97480" y="3886200"/>
            <a:ext cx="182880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9160" y="3886200"/>
            <a:ext cx="182880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Discovery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720840" y="3886200"/>
            <a:ext cx="1828800" cy="27432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" y="4343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Norgine · GI &amp; Rare Disease · Europa · CMO Network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0" y="434340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0" y="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4 proyectos de IA con mayor ROI para Norgine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" y="1042416"/>
            <a:ext cx="1965960" cy="3566160"/>
          </a:xfrm>
          <a:prstGeom prst="rect">
            <a:avLst/>
          </a:prstGeom>
          <a:solidFill>
            <a:srgbClr val="CBD5E1">
              <a:alpha val="70000"/>
            </a:srgbClr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19659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05840"/>
            <a:ext cx="1965960" cy="2011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05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64692" y="1261872"/>
            <a:ext cx="585216" cy="585216"/>
          </a:xfrm>
          <a:prstGeom prst="ellipse">
            <a:avLst/>
          </a:prstGeom>
          <a:solidFill>
            <a:srgbClr val="00A896">
              <a:alpha val="88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1353312"/>
            <a:ext cx="402336" cy="40233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84048" y="1965960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Manufacturing Intelligence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798064"/>
            <a:ext cx="1234440" cy="27432"/>
          </a:xfrm>
          <a:prstGeom prst="rect">
            <a:avLst/>
          </a:prstGeom>
          <a:solidFill>
            <a:srgbClr val="00A896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" y="2889504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fallos de lote, predictive maintenance y batch scheduling. Ahorro €200k–2M€ por lote y 10–20% más capacidad productiva.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395728" y="1042416"/>
            <a:ext cx="1965960" cy="3566160"/>
          </a:xfrm>
          <a:prstGeom prst="rect">
            <a:avLst/>
          </a:prstGeom>
          <a:solidFill>
            <a:srgbClr val="CBD5E1">
              <a:alpha val="70000"/>
            </a:srgbClr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59152" y="1005840"/>
            <a:ext cx="19659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59152" y="1005840"/>
            <a:ext cx="1965960" cy="2011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5"/>
          <p:cNvSpPr/>
          <p:nvPr/>
        </p:nvSpPr>
        <p:spPr>
          <a:xfrm>
            <a:off x="2359152" y="1005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049524" y="1261872"/>
            <a:ext cx="585216" cy="585216"/>
          </a:xfrm>
          <a:prstGeom prst="ellipse">
            <a:avLst/>
          </a:prstGeom>
          <a:solidFill>
            <a:srgbClr val="028090">
              <a:alpha val="88000"/>
            </a:srgbClr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964" y="135331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468880" y="1965960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Supply Chain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24912" y="2798064"/>
            <a:ext cx="1234440" cy="27432"/>
          </a:xfrm>
          <a:prstGeom prst="rect">
            <a:avLst/>
          </a:prstGeom>
          <a:solidFill>
            <a:srgbClr val="028090">
              <a:alpha val="50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2468880" y="2889504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 con datos reales de mercado e historial de ventas. Reduce sobrestock, riesgo de expiración y retrasos en API supply chain.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480560" y="1042416"/>
            <a:ext cx="1965960" cy="3566160"/>
          </a:xfrm>
          <a:prstGeom prst="rect">
            <a:avLst/>
          </a:prstGeom>
          <a:solidFill>
            <a:srgbClr val="CBD5E1">
              <a:alpha val="70000"/>
            </a:srgbClr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443984" y="1005840"/>
            <a:ext cx="19659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443984" y="1005840"/>
            <a:ext cx="1965960" cy="2011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7" name="Text 23"/>
          <p:cNvSpPr/>
          <p:nvPr/>
        </p:nvSpPr>
        <p:spPr>
          <a:xfrm>
            <a:off x="4443984" y="1005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5134356" y="1261872"/>
            <a:ext cx="585216" cy="585216"/>
          </a:xfrm>
          <a:prstGeom prst="ellipse">
            <a:avLst/>
          </a:prstGeom>
          <a:solidFill>
            <a:srgbClr val="4F46E5">
              <a:alpha val="88000"/>
            </a:srgbClr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796" y="1353312"/>
            <a:ext cx="402336" cy="40233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553712" y="1965960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Disease Patient Discovery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4809744" y="2798064"/>
            <a:ext cx="1234440" cy="27432"/>
          </a:xfrm>
          <a:prstGeom prst="rect">
            <a:avLst/>
          </a:prstGeom>
          <a:solidFill>
            <a:srgbClr val="4F46E5">
              <a:alpha val="5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4553712" y="2889504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sobre EHR y genética identifican pacientes no diagnosticados. Diagnóstico temprano = mayor penetración del portfolio.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6565392" y="1042416"/>
            <a:ext cx="1965960" cy="3566160"/>
          </a:xfrm>
          <a:prstGeom prst="rect">
            <a:avLst/>
          </a:prstGeom>
          <a:solidFill>
            <a:srgbClr val="CBD5E1">
              <a:alpha val="70000"/>
            </a:srgbClr>
          </a:solidFill>
          <a:ln w="12700">
            <a:solidFill>
              <a:srgbClr val="CBD5E1">
                <a:alpha val="7000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6528816" y="1005840"/>
            <a:ext cx="196596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528816" y="1005840"/>
            <a:ext cx="1965960" cy="2011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1"/>
          <p:cNvSpPr/>
          <p:nvPr/>
        </p:nvSpPr>
        <p:spPr>
          <a:xfrm>
            <a:off x="6528816" y="10058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1524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7219188" y="1261872"/>
            <a:ext cx="585216" cy="585216"/>
          </a:xfrm>
          <a:prstGeom prst="ellipse">
            <a:avLst/>
          </a:prstGeom>
          <a:solidFill>
            <a:srgbClr val="7C3AED">
              <a:alpha val="88000"/>
            </a:srgbClr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628" y="1353312"/>
            <a:ext cx="402336" cy="40233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638544" y="1965960"/>
            <a:ext cx="1746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Lifecycle Analytics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894576" y="2798064"/>
            <a:ext cx="1234440" cy="27432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</p:sp>
      <p:sp>
        <p:nvSpPr>
          <p:cNvPr id="41" name="Text 35"/>
          <p:cNvSpPr/>
          <p:nvPr/>
        </p:nvSpPr>
        <p:spPr>
          <a:xfrm>
            <a:off x="6638544" y="2889504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que conecta datos clínicos, regulatorios y comerciales. Predicción de ingresos y nuevas indicaciones 12–24 meses antes.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43" name="Text 37"/>
          <p:cNvSpPr/>
          <p:nvPr/>
        </p:nvSpPr>
        <p:spPr>
          <a:xfrm>
            <a:off x="365760" y="48691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Norgine  ·  AI Strategy &amp; Innovation  ·  March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Norgine AI Strategy – Navy Executive</dc:title>
  <dc:subject>PptxGenJS Presentation</dc:subject>
  <dc:creator>PptxGenJS</dc:creator>
  <cp:lastModifiedBy>PptxGenJS</cp:lastModifiedBy>
  <cp:revision>1</cp:revision>
  <dcterms:created xsi:type="dcterms:W3CDTF">2026-03-13T12:48:01Z</dcterms:created>
  <dcterms:modified xsi:type="dcterms:W3CDTF">2026-03-13T12:48:01Z</dcterms:modified>
</cp:coreProperties>
</file>