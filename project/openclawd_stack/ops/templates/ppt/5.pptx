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Montserrat" pitchFamily="2" charset="77"/>
      <p:regular r:id="rId7"/>
      <p:bold r:id="rId8"/>
      <p:italic r:id="rId9"/>
      <p:boldItalic r:id="rId10"/>
    </p:embeddedFont>
    <p:embeddedFont>
      <p:font typeface="Montserrat Bold" pitchFamily="2" charset="7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F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41" autoAdjust="0"/>
  </p:normalViewPr>
  <p:slideViewPr>
    <p:cSldViewPr>
      <p:cViewPr varScale="1">
        <p:scale>
          <a:sx n="82" d="100"/>
          <a:sy n="82" d="100"/>
        </p:scale>
        <p:origin x="66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heme" Target="theme/theme1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A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2821" y="636933"/>
            <a:ext cx="17177026" cy="8995198"/>
            <a:chOff x="0" y="0"/>
            <a:chExt cx="4523990" cy="23691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3990" cy="2369106"/>
            </a:xfrm>
            <a:custGeom>
              <a:avLst/>
              <a:gdLst/>
              <a:ahLst/>
              <a:cxnLst/>
              <a:rect l="l" t="t" r="r" b="b"/>
              <a:pathLst>
                <a:path w="4523990" h="2369106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2358739"/>
                  </a:lnTo>
                  <a:cubicBezTo>
                    <a:pt x="4523990" y="2361489"/>
                    <a:pt x="4522898" y="2364125"/>
                    <a:pt x="4520954" y="2366069"/>
                  </a:cubicBezTo>
                  <a:cubicBezTo>
                    <a:pt x="4519010" y="2368013"/>
                    <a:pt x="4516373" y="2369106"/>
                    <a:pt x="4513624" y="2369106"/>
                  </a:cubicBezTo>
                  <a:lnTo>
                    <a:pt x="10366" y="2369106"/>
                  </a:lnTo>
                  <a:cubicBezTo>
                    <a:pt x="7617" y="2369106"/>
                    <a:pt x="4980" y="2368013"/>
                    <a:pt x="3036" y="2366069"/>
                  </a:cubicBezTo>
                  <a:cubicBezTo>
                    <a:pt x="1092" y="2364125"/>
                    <a:pt x="0" y="2361489"/>
                    <a:pt x="0" y="2358739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23990" cy="241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894483"/>
            <a:ext cx="3628085" cy="4414507"/>
            <a:chOff x="0" y="0"/>
            <a:chExt cx="1693662" cy="20607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1305" y="4074774"/>
            <a:ext cx="3262874" cy="4031036"/>
            <a:chOff x="0" y="0"/>
            <a:chExt cx="1523174" cy="18817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91510" y="3131890"/>
            <a:ext cx="1902465" cy="190246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194111" y="3426143"/>
            <a:ext cx="1297262" cy="1297262"/>
          </a:xfrm>
          <a:custGeom>
            <a:avLst/>
            <a:gdLst/>
            <a:ahLst/>
            <a:cxnLst/>
            <a:rect l="l" t="t" r="r" b="b"/>
            <a:pathLst>
              <a:path w="1297262" h="1297262">
                <a:moveTo>
                  <a:pt x="0" y="0"/>
                </a:moveTo>
                <a:lnTo>
                  <a:pt x="1297262" y="0"/>
                </a:lnTo>
                <a:lnTo>
                  <a:pt x="1297262" y="1297262"/>
                </a:lnTo>
                <a:lnTo>
                  <a:pt x="0" y="1297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4974962" y="3894483"/>
            <a:ext cx="3628085" cy="4414507"/>
            <a:chOff x="0" y="0"/>
            <a:chExt cx="1693662" cy="20607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57566" y="4117756"/>
            <a:ext cx="3262874" cy="4031036"/>
            <a:chOff x="0" y="0"/>
            <a:chExt cx="1523174" cy="18817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37771" y="3131890"/>
            <a:ext cx="1902465" cy="190246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07871" y="3894483"/>
            <a:ext cx="3628085" cy="4414507"/>
            <a:chOff x="0" y="0"/>
            <a:chExt cx="1693662" cy="206077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290476" y="4074774"/>
            <a:ext cx="3262874" cy="4031036"/>
            <a:chOff x="0" y="0"/>
            <a:chExt cx="1523174" cy="18817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970681" y="3131890"/>
            <a:ext cx="1902465" cy="190246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240781" y="3894483"/>
            <a:ext cx="3628085" cy="4414507"/>
            <a:chOff x="0" y="0"/>
            <a:chExt cx="1693662" cy="206077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423386" y="4074774"/>
            <a:ext cx="3262874" cy="4031036"/>
            <a:chOff x="0" y="0"/>
            <a:chExt cx="1523174" cy="188176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103591" y="3131890"/>
            <a:ext cx="1902465" cy="1902465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0269921" y="3552297"/>
            <a:ext cx="1263132" cy="1044955"/>
          </a:xfrm>
          <a:custGeom>
            <a:avLst/>
            <a:gdLst/>
            <a:ahLst/>
            <a:cxnLst/>
            <a:rect l="l" t="t" r="r" b="b"/>
            <a:pathLst>
              <a:path w="1263132" h="1044955">
                <a:moveTo>
                  <a:pt x="0" y="0"/>
                </a:moveTo>
                <a:lnTo>
                  <a:pt x="1263132" y="0"/>
                </a:lnTo>
                <a:lnTo>
                  <a:pt x="1263132" y="1044955"/>
                </a:lnTo>
                <a:lnTo>
                  <a:pt x="0" y="1044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4473885" y="3552297"/>
            <a:ext cx="1215301" cy="1171109"/>
          </a:xfrm>
          <a:custGeom>
            <a:avLst/>
            <a:gdLst/>
            <a:ahLst/>
            <a:cxnLst/>
            <a:rect l="l" t="t" r="r" b="b"/>
            <a:pathLst>
              <a:path w="1215301" h="1171109">
                <a:moveTo>
                  <a:pt x="0" y="0"/>
                </a:moveTo>
                <a:lnTo>
                  <a:pt x="1215301" y="0"/>
                </a:lnTo>
                <a:lnTo>
                  <a:pt x="1215301" y="1171108"/>
                </a:lnTo>
                <a:lnTo>
                  <a:pt x="0" y="1171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6338593" y="3552297"/>
            <a:ext cx="883328" cy="1099164"/>
          </a:xfrm>
          <a:custGeom>
            <a:avLst/>
            <a:gdLst/>
            <a:ahLst/>
            <a:cxnLst/>
            <a:rect l="l" t="t" r="r" b="b"/>
            <a:pathLst>
              <a:path w="883328" h="1099164">
                <a:moveTo>
                  <a:pt x="0" y="0"/>
                </a:moveTo>
                <a:lnTo>
                  <a:pt x="883328" y="0"/>
                </a:lnTo>
                <a:lnTo>
                  <a:pt x="883328" y="1099163"/>
                </a:lnTo>
                <a:lnTo>
                  <a:pt x="0" y="10991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390342" y="6413539"/>
            <a:ext cx="2877407" cy="184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s-ES" sz="1492" u="none" strike="noStrike" dirty="0">
                <a:solidFill>
                  <a:srgbClr val="101010"/>
                </a:solidFill>
                <a:latin typeface="Montserrat"/>
              </a:rPr>
              <a:t>Predicción de fallos de lote, predictive maintenance y AI batch scheduling. Ahorro €200k–2M€ por lote y 10–20% más capacidad productiva sin ampliar planta.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98872" y="5228927"/>
            <a:ext cx="2877407" cy="34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 · AI Manufacturing Intelligence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422550" y="1836490"/>
            <a:ext cx="1144290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4 proyectos de IA con mayor ROI para Norgine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50300" y="6203250"/>
            <a:ext cx="2877407" cy="184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s-ES" sz="1492" u="none" strike="noStrike" dirty="0">
                <a:solidFill>
                  <a:srgbClr val="101010"/>
                </a:solidFill>
                <a:latin typeface="Montserrat"/>
              </a:rPr>
              <a:t>Demand forecasting con datos reales de mercado e historial de ventas. Reduce sobrestock, riesgo de expiración y retrasos en API supply chain.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50300" y="5291530"/>
            <a:ext cx="2877407" cy="34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 · Predictive Supply Chain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83210" y="6101736"/>
            <a:ext cx="2877407" cy="184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s-ES" sz="1492" u="none" strike="noStrike" dirty="0">
                <a:solidFill>
                  <a:srgbClr val="101010"/>
                </a:solidFill>
                <a:latin typeface="Montserrat"/>
              </a:rPr>
              <a:t>Modelos sobre EHR y genética identifican pacientes no diagnosticados en rare disease. Diagnóstico temprano = mayor uso del medicamento y mejora de outcomes clínicos.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83210" y="5291530"/>
            <a:ext cx="2877407" cy="34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· Rare Disease Patient Discovery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616120" y="6175744"/>
            <a:ext cx="2877407" cy="184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s-ES" sz="1492" u="none" strike="noStrike" dirty="0">
                <a:solidFill>
                  <a:srgbClr val="101010"/>
                </a:solidFill>
                <a:latin typeface="Montserrat"/>
              </a:rPr>
              <a:t>Plataforma que conecta datos clínicos, regulatorios y comerciales. Predicción de ingresos y nuevas indicaciones 12–24 meses antes. Ventaja competitiva sostenible.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616120" y="5291530"/>
            <a:ext cx="2877407" cy="34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3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 · Drug Lifecycle Analytics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138</Words>
  <Application>Microsoft Macintosh PowerPoint</Application>
  <PresentationFormat>Personalizado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Montserrat</vt:lpstr>
      <vt:lpstr>Montserrat Bold</vt:lpstr>
      <vt:lpstr>Arial</vt:lpstr>
      <vt:lpstr>Calibri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Violet Professional Modern Technology Pitch Deck Presentation</dc:title>
  <cp:lastModifiedBy>Microsoft Office User</cp:lastModifiedBy>
  <cp:revision>4</cp:revision>
  <dcterms:created xsi:type="dcterms:W3CDTF">2006-08-16T00:00:00Z</dcterms:created>
  <dcterms:modified xsi:type="dcterms:W3CDTF">2026-03-13T12:05:24Z</dcterms:modified>
  <dc:identifier>DAGfY1bFpcc</dc:identifier>
</cp:coreProperties>
</file>