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25603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080760" y="457200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9128" y="457200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97496" y="457200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457200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115568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39128" y="1115568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115568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55864" y="1115568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773936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9128" y="1773936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1773936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1773936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2432304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39128" y="2432304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7496" y="2432304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5864" y="2432304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090672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3090672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7496" y="3090672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5864" y="3090672"/>
            <a:ext cx="64008" cy="64008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71600"/>
            <a:ext cx="2194560" cy="2194560"/>
          </a:xfrm>
          <a:prstGeom prst="ellipse">
            <a:avLst/>
          </a:prstGeom>
          <a:solidFill>
            <a:srgbClr val="0F192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55448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371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502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NORGINE · AI STRATEGY &amp; INNOVATION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914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 Pharma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0292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Norgine</a:t>
            </a:r>
            <a:endParaRPr lang="en-US" sz="4400" dirty="0"/>
          </a:p>
        </p:txBody>
      </p:sp>
      <p:sp>
        <p:nvSpPr>
          <p:cNvPr id="30" name="Shape 28"/>
          <p:cNvSpPr/>
          <p:nvPr/>
        </p:nvSpPr>
        <p:spPr>
          <a:xfrm>
            <a:off x="502920" y="2578608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724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de uso · ROI inmediato · Ventaja competitiva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457700"/>
            <a:ext cx="5440680" cy="6858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4577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&amp; Rare Disease · Europa · CMO Network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0" y="4613148"/>
            <a:ext cx="10058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0" y="46131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proyectos de IA con mayor ROI para Norgine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63040" cy="3291840"/>
          </a:xfrm>
          <a:prstGeom prst="rect">
            <a:avLst/>
          </a:prstGeom>
          <a:solidFill>
            <a:srgbClr val="1A2535"/>
          </a:solidFill>
          <a:ln w="635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463040" cy="3200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8988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Manufacturing Intelligence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72491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fallos de lote, predictive maintenance y batch scheduling. Ahorro €200k–2M€ por lote y 10–20% más capacidad productiva.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" y="3977640"/>
            <a:ext cx="1188720" cy="219456"/>
          </a:xfrm>
          <a:prstGeom prst="rect">
            <a:avLst/>
          </a:prstGeom>
          <a:solidFill>
            <a:srgbClr val="02C39A">
              <a:alpha val="20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977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inmediato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874520" y="1005840"/>
            <a:ext cx="1463040" cy="3291840"/>
          </a:xfrm>
          <a:prstGeom prst="rect">
            <a:avLst/>
          </a:prstGeom>
          <a:solidFill>
            <a:srgbClr val="1A2535"/>
          </a:solidFill>
          <a:ln w="6350">
            <a:solidFill>
              <a:srgbClr val="2430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74520" y="1005840"/>
            <a:ext cx="1463040" cy="3200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87452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389888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6596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Supply Chain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65960" y="272491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con datos reales de mercado. Reduce sobrestock, riesgo de expiración y retrasos en API supply chain.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011680" y="3977640"/>
            <a:ext cx="1188720" cy="219456"/>
          </a:xfrm>
          <a:prstGeom prst="rect">
            <a:avLst/>
          </a:prstGeom>
          <a:solidFill>
            <a:srgbClr val="02C39A">
              <a:alpha val="20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3977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474720" y="1005840"/>
            <a:ext cx="1463040" cy="3291840"/>
          </a:xfrm>
          <a:prstGeom prst="rect">
            <a:avLst/>
          </a:prstGeom>
          <a:solidFill>
            <a:srgbClr val="1A2535"/>
          </a:solidFill>
          <a:ln w="6350">
            <a:solidFill>
              <a:srgbClr val="2430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74720" y="1005840"/>
            <a:ext cx="1463040" cy="3200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389888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6616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Patient Discovery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566160" y="272491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EHR + genética identifican pacientes no diagnosticados. Mayor penetración del portfolio de rare disease.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611880" y="3977640"/>
            <a:ext cx="1188720" cy="219456"/>
          </a:xfrm>
          <a:prstGeom prst="rect">
            <a:avLst/>
          </a:prstGeom>
          <a:solidFill>
            <a:srgbClr val="02C39A">
              <a:alpha val="20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11880" y="3977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clínico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5074920" y="1005840"/>
            <a:ext cx="1463040" cy="3291840"/>
          </a:xfrm>
          <a:prstGeom prst="rect">
            <a:avLst/>
          </a:prstGeom>
          <a:solidFill>
            <a:srgbClr val="1A2535"/>
          </a:solidFill>
          <a:ln w="6350">
            <a:solidFill>
              <a:srgbClr val="24304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74920" y="1005840"/>
            <a:ext cx="1463040" cy="3200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507492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1389888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66360" y="18745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Lifecycle Analytics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166360" y="2724912"/>
            <a:ext cx="1280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estratégica: datos clínicos, regulatorios y comerciales. Predicción de ingresos y nuevas indicaciones.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5212080" y="3977640"/>
            <a:ext cx="1188720" cy="219456"/>
          </a:xfrm>
          <a:prstGeom prst="rect">
            <a:avLst/>
          </a:prstGeom>
          <a:solidFill>
            <a:srgbClr val="02C39A">
              <a:alpha val="20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212080" y="39776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6720840" y="1005840"/>
            <a:ext cx="2194560" cy="3291840"/>
          </a:xfrm>
          <a:prstGeom prst="rect">
            <a:avLst/>
          </a:prstGeom>
          <a:solidFill>
            <a:srgbClr val="1A2535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720840" y="1005840"/>
            <a:ext cx="21945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3"/>
          <p:cNvSpPr/>
          <p:nvPr/>
        </p:nvSpPr>
        <p:spPr>
          <a:xfrm>
            <a:off x="672084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combinado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885432" y="14813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104888" y="14356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medible en semanas, no en años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6885432" y="19385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104888" y="18928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 sostenible en pharma EU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6885432" y="23957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104888" y="2350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costes operativos directos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6885432" y="28529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104888" y="28072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outcomes para pacientes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6885432" y="331012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104888" y="32644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como referente de IA en pharma EU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51" name="Text 45"/>
          <p:cNvSpPr/>
          <p:nvPr/>
        </p:nvSpPr>
        <p:spPr>
          <a:xfrm>
            <a:off x="365760" y="489661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 ·  AI Strategy &amp; Innovation  ·  March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Norgine AI Strategy – Dark Premium</dc:title>
  <dc:subject>PptxGenJS Presentation</dc:subject>
  <dc:creator>PptxGenJS</dc:creator>
  <cp:lastModifiedBy>PptxGenJS</cp:lastModifiedBy>
  <cp:revision>1</cp:revision>
  <dcterms:created xsi:type="dcterms:W3CDTF">2026-03-13T12:55:16Z</dcterms:created>
  <dcterms:modified xsi:type="dcterms:W3CDTF">2026-03-13T12:55:16Z</dcterms:modified>
</cp:coreProperties>
</file>